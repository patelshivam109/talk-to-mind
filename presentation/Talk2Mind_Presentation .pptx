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 autoAdjust="0"/>
    <p:restoredTop sz="94610"/>
  </p:normalViewPr>
  <p:slideViewPr>
    <p:cSldViewPr snapToGrid="0" snapToObjects="1">
      <p:cViewPr>
        <p:scale>
          <a:sx n="96" d="100"/>
          <a:sy n="96" d="100"/>
        </p:scale>
        <p:origin x="368" y="-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077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005840"/>
            <a:ext cx="2926080" cy="2926080"/>
          </a:xfrm>
          <a:prstGeom prst="ellipse">
            <a:avLst/>
          </a:prstGeom>
          <a:solidFill>
            <a:srgbClr val="0077A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749040"/>
            <a:ext cx="2377440" cy="2377440"/>
          </a:xfrm>
          <a:prstGeom prst="ellipse">
            <a:avLst/>
          </a:prstGeom>
          <a:solidFill>
            <a:srgbClr val="7B2FB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3291840"/>
            <a:ext cx="1463040" cy="1463040"/>
          </a:xfrm>
          <a:prstGeom prst="ellipse">
            <a:avLst/>
          </a:prstGeom>
          <a:solidFill>
            <a:srgbClr val="F4A261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TALK2MIND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Multimodal AI-Based Mental Well-Being Assessment and Support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</a:t>
            </a:r>
            <a:r>
              <a:rPr lang="en-US" sz="1400" i="1" dirty="0" smtClean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Presentation</a:t>
            </a:r>
            <a:r>
              <a:rPr lang="en-US" sz="1400" i="1" dirty="0" smtClean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i="1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Internship Project Submission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6949440" cy="1828800"/>
          </a:xfrm>
          <a:prstGeom prst="roundRect">
            <a:avLst>
              <a:gd name="adj" fmla="val 4000"/>
            </a:avLst>
          </a:prstGeom>
          <a:solidFill>
            <a:srgbClr val="1A2E45"/>
          </a:solidFill>
          <a:ln w="9525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260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By: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80360" y="29260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Shivam Subedar Patel (Intern, AI/ML)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3192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Organization: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33192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Vidwan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7124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Mentor: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80360" y="37124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Meet Mistry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1056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Date of Submission: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410565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30/06/2026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 |  Computer Vision  |  NLP  |  TensorFlow/Keras  |  OpenCV  |  Librosa  |  Streamlit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Objective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25296"/>
            <a:ext cx="118872" cy="11887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152144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Emotional well-being is hard to self-track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82496"/>
            <a:ext cx="118872" cy="11887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609344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Single-modality signals (face or voice alone) are unreliable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39696"/>
            <a:ext cx="118872" cy="11887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066544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tools lack a unified, data-driven score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822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225296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010912" y="1152144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 facial emotion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591056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010912" y="1517904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Analyze speech emotion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956816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5010912" y="1883664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Assess questionnaire responses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322576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5010912" y="2249424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Fuse results for a Wellbeing Score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688336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5010912" y="2615184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 personalized recommendations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246120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0D1B2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1560" y="3456432"/>
            <a:ext cx="713232" cy="7132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1783080" y="3456432"/>
            <a:ext cx="466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267712" y="3456432"/>
            <a:ext cx="713232" cy="71323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8" name="Text 26"/>
          <p:cNvSpPr/>
          <p:nvPr/>
        </p:nvSpPr>
        <p:spPr>
          <a:xfrm>
            <a:off x="2999232" y="3456432"/>
            <a:ext cx="466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483864" y="3456432"/>
            <a:ext cx="713232" cy="71323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0" name="Text 28"/>
          <p:cNvSpPr/>
          <p:nvPr/>
        </p:nvSpPr>
        <p:spPr>
          <a:xfrm>
            <a:off x="4215384" y="3456432"/>
            <a:ext cx="466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00016" y="3456432"/>
            <a:ext cx="713232" cy="713232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32" name="Text 30"/>
          <p:cNvSpPr/>
          <p:nvPr/>
        </p:nvSpPr>
        <p:spPr>
          <a:xfrm>
            <a:off x="5431536" y="3456432"/>
            <a:ext cx="466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916168" y="3456432"/>
            <a:ext cx="713232" cy="71323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422452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084832" y="422452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Speech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00984" y="422452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Survey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17136" y="422452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Fusion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733288" y="422452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74320" y="49377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Talk2Mind — Multimodal AI-Based Mental Well-Being Assessment System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03920" y="4937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Box 40"/>
          <p:cNvSpPr txBox="1"/>
          <p:nvPr/>
        </p:nvSpPr>
        <p:spPr>
          <a:xfrm>
            <a:off x="1182884" y="3628382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S-1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2367032" y="3628382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S-2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3632212" y="3628382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S-3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4814316" y="3626527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S-4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033776" y="3628382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S-5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Facial Emotion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FER-2013 / Custom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901952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" y="1828800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30,000+ labeled images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286000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" y="221284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emotion classes: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670048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" y="2596896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Angry, Disgust, Fear, Happy,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054096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" y="2980944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Sad, Surprise, Neutral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91440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Speech Emotion Dataset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TESS / RAVDESS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83480" y="1901952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5239512" y="1828800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Audio files in multiple formats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83480" y="2286000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5239512" y="221284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(MP3, OGG, M4A, WAV)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83480" y="2670048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/>
          <p:nvPr/>
        </p:nvSpPr>
        <p:spPr>
          <a:xfrm>
            <a:off x="5239512" y="2596896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Extracted features: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3054096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7" name="Text 25"/>
          <p:cNvSpPr/>
          <p:nvPr/>
        </p:nvSpPr>
        <p:spPr>
          <a:xfrm>
            <a:off x="5239512" y="2980944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MFCCs, Pitch, Energy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49377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Talk2Mind — Multimodal AI-Based Mental Well-Being Assessment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937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Preprocessing &amp; Feature Extraction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 Pipeline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25296"/>
            <a:ext cx="118872" cy="118872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152144"/>
            <a:ext cx="7973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Audio formats standardized to WAV in-memory using FFmpeg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118872" cy="118872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481328"/>
            <a:ext cx="7973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Face bounding boxes extracted using OpenCV Haar cascades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57400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1A2E45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" y="2203704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56946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" y="2862072"/>
            <a:ext cx="2350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Micro-expression mapping via CNN filters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27832" y="2057400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1A2E45"/>
          </a:solidFill>
          <a:ln/>
        </p:spPr>
      </p:sp>
      <p:sp>
        <p:nvSpPr>
          <p:cNvPr id="16" name="Shape 14"/>
          <p:cNvSpPr/>
          <p:nvPr/>
        </p:nvSpPr>
        <p:spPr>
          <a:xfrm>
            <a:off x="3392424" y="2203704"/>
            <a:ext cx="292608" cy="29260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3392424" y="256946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92424" y="2862072"/>
            <a:ext cx="2350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40-dim MFCC vectors, time-averaged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9904" y="2057400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1A2E45"/>
          </a:solidFill>
          <a:ln/>
        </p:spPr>
      </p:sp>
      <p:sp>
        <p:nvSpPr>
          <p:cNvPr id="20" name="Shape 18"/>
          <p:cNvSpPr/>
          <p:nvPr/>
        </p:nvSpPr>
        <p:spPr>
          <a:xfrm>
            <a:off x="6254496" y="2203704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6254496" y="256946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Subjective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54496" y="2862072"/>
            <a:ext cx="2350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Weighted 0–4 questionnaire scoring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0077A8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657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Late-Fusion Weights:  Vision 30%   +   Audio 30%   +   Questionnaire 40%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49377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Talk2Mind — Multimodal AI-Based Mental Well-Being Assessment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03920" y="4937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Box 26"/>
          <p:cNvSpPr txBox="1"/>
          <p:nvPr/>
        </p:nvSpPr>
        <p:spPr>
          <a:xfrm>
            <a:off x="545851" y="2228457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83346" y="21711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6245418" y="2167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Facial Models Evaluated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Speech Models Evaluated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E8F4FD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170432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MobileNetV2 (Transfer Learning)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077A8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709928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 CNN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249424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E8F4FD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249424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Haar Cascades + SVM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70432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E8F4FD"/>
          </a:solidFill>
          <a:ln/>
        </p:spPr>
      </p:sp>
      <p:sp>
        <p:nvSpPr>
          <p:cNvPr id="15" name="Text 13"/>
          <p:cNvSpPr/>
          <p:nvPr/>
        </p:nvSpPr>
        <p:spPr>
          <a:xfrm>
            <a:off x="4919472" y="1170432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709928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4919472" y="1709928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 Vector Machine (SVM)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249424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E8F4FD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2249424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Multi-Layer Perceptron (MLP)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26974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Notes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054096"/>
            <a:ext cx="118872" cy="118872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2980944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StandardScaler applied for consistent inference across acoustic features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346704"/>
            <a:ext cx="118872" cy="118872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32735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Reverse scoring used in the questionnaire to reduce response bias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12848" y="3785616"/>
            <a:ext cx="329184" cy="256032"/>
          </a:xfrm>
          <a:prstGeom prst="roundRect">
            <a:avLst>
              <a:gd name="adj" fmla="val 10714"/>
            </a:avLst>
          </a:prstGeom>
          <a:ln w="19050">
            <a:solidFill>
              <a:srgbClr val="0077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58568" y="3831336"/>
            <a:ext cx="64008" cy="64008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1696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Accuracy / Loss Curve — Face Model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4439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 Screenshot Here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01968" y="3785616"/>
            <a:ext cx="329184" cy="256032"/>
          </a:xfrm>
          <a:prstGeom prst="roundRect">
            <a:avLst>
              <a:gd name="adj" fmla="val 10714"/>
            </a:avLst>
          </a:prstGeom>
          <a:ln w="19050">
            <a:solidFill>
              <a:srgbClr val="0077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8" y="3831336"/>
            <a:ext cx="64008" cy="64008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41696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Accuracy / Loss Curve — Speech Model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44439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 Screenshot Here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9377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Talk2Mind — Multimodal AI-Based Mental Well-Being Assessment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03920" y="4937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5196" y="3465576"/>
            <a:ext cx="4023360" cy="1472184"/>
          </a:xfrm>
          <a:prstGeom prst="roundRect">
            <a:avLst>
              <a:gd name="adj" fmla="val 5085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0077A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754880" y="3410712"/>
            <a:ext cx="4023360" cy="1527048"/>
          </a:xfrm>
          <a:prstGeom prst="roundRect">
            <a:avLst>
              <a:gd name="adj" fmla="val 5085"/>
            </a:avLst>
          </a:prstGeom>
          <a:blipFill>
            <a:blip r:embed="rId4"/>
            <a:stretch>
              <a:fillRect/>
            </a:stretch>
          </a:blipFill>
          <a:ln w="12700">
            <a:solidFill>
              <a:srgbClr val="0077A8"/>
            </a:solidFill>
            <a:prstDash val="dash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Comparison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7863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6394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Illustrative results — replace with final benchmarked accuracies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3291840" cy="365760"/>
          </a:xfrm>
          <a:prstGeom prst="rect">
            <a:avLst/>
          </a:prstGeom>
          <a:solidFill>
            <a:srgbClr val="0D1B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0" y="1005840"/>
            <a:ext cx="2103120" cy="365760"/>
          </a:xfrm>
          <a:prstGeom prst="rect">
            <a:avLst/>
          </a:prstGeom>
          <a:solidFill>
            <a:srgbClr val="0D1B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005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Modality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1005840"/>
            <a:ext cx="3017520" cy="365760"/>
          </a:xfrm>
          <a:prstGeom prst="rect">
            <a:avLst/>
          </a:prstGeom>
          <a:solidFill>
            <a:srgbClr val="0D1B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005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3291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90AF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37160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CNN (Face)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1371600"/>
            <a:ext cx="21031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90AF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3716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Facial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371600"/>
            <a:ext cx="3017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90AF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13716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57.2%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1773936"/>
            <a:ext cx="3291840" cy="402336"/>
          </a:xfrm>
          <a:prstGeom prst="rect">
            <a:avLst/>
          </a:prstGeom>
          <a:solidFill>
            <a:srgbClr val="E8F4FD"/>
          </a:solidFill>
          <a:ln w="6350">
            <a:solidFill>
              <a:srgbClr val="90AF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177393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MobileNetV2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0" y="1773936"/>
            <a:ext cx="2103120" cy="402336"/>
          </a:xfrm>
          <a:prstGeom prst="rect">
            <a:avLst/>
          </a:prstGeom>
          <a:solidFill>
            <a:srgbClr val="E8F4FD"/>
          </a:solidFill>
          <a:ln w="6350">
            <a:solidFill>
              <a:srgbClr val="90AF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177393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Facial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0" y="1773936"/>
            <a:ext cx="3017520" cy="402336"/>
          </a:xfrm>
          <a:prstGeom prst="rect">
            <a:avLst/>
          </a:prstGeom>
          <a:solidFill>
            <a:srgbClr val="E8F4FD"/>
          </a:solidFill>
          <a:ln w="6350">
            <a:solidFill>
              <a:srgbClr val="90AF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70448" y="177393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54.1%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2176272"/>
            <a:ext cx="3291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90AF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217627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0" y="2176272"/>
            <a:ext cx="21031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90AF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67328" y="21762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60720" y="2176272"/>
            <a:ext cx="3017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90AF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0448" y="21762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51.7%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2578608"/>
            <a:ext cx="3291840" cy="402336"/>
          </a:xfrm>
          <a:prstGeom prst="rect">
            <a:avLst/>
          </a:prstGeom>
          <a:solidFill>
            <a:srgbClr val="E8F4FD"/>
          </a:solidFill>
          <a:ln w="6350">
            <a:solidFill>
              <a:srgbClr val="90AF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257860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0" y="2578608"/>
            <a:ext cx="2103120" cy="402336"/>
          </a:xfrm>
          <a:prstGeom prst="rect">
            <a:avLst/>
          </a:prstGeom>
          <a:solidFill>
            <a:srgbClr val="E8F4FD"/>
          </a:solidFill>
          <a:ln w="6350">
            <a:solidFill>
              <a:srgbClr val="90AF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257860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Speech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760720" y="2578608"/>
            <a:ext cx="3017520" cy="402336"/>
          </a:xfrm>
          <a:prstGeom prst="rect">
            <a:avLst/>
          </a:prstGeom>
          <a:solidFill>
            <a:srgbClr val="E8F4FD"/>
          </a:solidFill>
          <a:ln w="6350">
            <a:solidFill>
              <a:srgbClr val="90AF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70448" y="257860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52.8%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2980944"/>
            <a:ext cx="3291840" cy="402336"/>
          </a:xfrm>
          <a:prstGeom prst="rect">
            <a:avLst/>
          </a:prstGeom>
          <a:solidFill>
            <a:srgbClr val="D7F4F0"/>
          </a:solidFill>
          <a:ln w="6350">
            <a:solidFill>
              <a:srgbClr val="90AF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29809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SVM (Speech)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0" y="2980944"/>
            <a:ext cx="2103120" cy="402336"/>
          </a:xfrm>
          <a:prstGeom prst="rect">
            <a:avLst/>
          </a:prstGeom>
          <a:solidFill>
            <a:srgbClr val="D7F4F0"/>
          </a:solidFill>
          <a:ln w="6350">
            <a:solidFill>
              <a:srgbClr val="90AF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67328" y="29809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Speech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760720" y="2980944"/>
            <a:ext cx="3017520" cy="402336"/>
          </a:xfrm>
          <a:prstGeom prst="rect">
            <a:avLst/>
          </a:prstGeom>
          <a:solidFill>
            <a:srgbClr val="D7F4F0"/>
          </a:solidFill>
          <a:ln w="6350">
            <a:solidFill>
              <a:srgbClr val="90AF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70448" y="29809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68.1%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407408" y="3666744"/>
            <a:ext cx="329184" cy="256032"/>
          </a:xfrm>
          <a:prstGeom prst="roundRect">
            <a:avLst>
              <a:gd name="adj" fmla="val 10714"/>
            </a:avLst>
          </a:prstGeom>
          <a:ln w="19050">
            <a:solidFill>
              <a:srgbClr val="0077A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53128" y="3712464"/>
            <a:ext cx="64008" cy="64008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050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</a:t>
            </a:r>
            <a:r>
              <a:rPr lang="en-US" sz="1050" b="1" i="1" dirty="0" smtClean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Comparison </a:t>
            </a:r>
            <a:r>
              <a:rPr lang="en-US" sz="1050" b="1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7200" y="42976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 Screenshot Here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49377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Talk2Mind — Multimodal AI-Based Mental Well-Being Assessment System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03920" y="4937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3383280"/>
            <a:ext cx="8412480" cy="1554480"/>
          </a:xfrm>
          <a:prstGeom prst="roundRect">
            <a:avLst>
              <a:gd name="adj" fmla="val 5217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0077A8"/>
            </a:solidFill>
            <a:prstDash val="dash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960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0" y="9601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960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Face CNN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960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03320" y="9601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960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Detected Emotion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Microphone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2148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011680" y="21488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2148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Extraction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148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03320" y="21488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148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148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94960" y="21488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2148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Detected Emotion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520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Questionnaire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37360" y="35204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011680" y="35204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57400" y="3520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Scoring Logic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29000" y="35204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703320" y="35204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3520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Self-Report Result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69480" y="182880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7B2FBE"/>
          </a:solidFill>
          <a:ln/>
        </p:spPr>
      </p:sp>
      <p:sp>
        <p:nvSpPr>
          <p:cNvPr id="34" name="Text 32"/>
          <p:cNvSpPr/>
          <p:nvPr/>
        </p:nvSpPr>
        <p:spPr>
          <a:xfrm>
            <a:off x="7269480" y="182880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66560" y="1188720"/>
            <a:ext cx="502920" cy="640080"/>
          </a:xfrm>
          <a:prstGeom prst="line">
            <a:avLst/>
          </a:prstGeom>
          <a:noFill/>
          <a:ln w="15875">
            <a:solidFill>
              <a:srgbClr val="90AFC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78040" y="2377440"/>
            <a:ext cx="91440" cy="45720"/>
          </a:xfrm>
          <a:prstGeom prst="line">
            <a:avLst/>
          </a:prstGeom>
          <a:noFill/>
          <a:ln w="15875">
            <a:solidFill>
              <a:srgbClr val="90AFC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3749040"/>
            <a:ext cx="960120" cy="0"/>
          </a:xfrm>
          <a:prstGeom prst="line">
            <a:avLst/>
          </a:prstGeom>
          <a:noFill/>
          <a:ln w="15875">
            <a:solidFill>
              <a:srgbClr val="90AF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18120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269480" y="324612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/>
        </p:spPr>
      </p:sp>
      <p:sp>
        <p:nvSpPr>
          <p:cNvPr id="40" name="Text 38"/>
          <p:cNvSpPr/>
          <p:nvPr/>
        </p:nvSpPr>
        <p:spPr>
          <a:xfrm>
            <a:off x="7269480" y="3246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Wellbeing Score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818120" y="3767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269480" y="402336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/>
        </p:spPr>
      </p:sp>
      <p:sp>
        <p:nvSpPr>
          <p:cNvPr id="43" name="Text 41"/>
          <p:cNvSpPr/>
          <p:nvPr/>
        </p:nvSpPr>
        <p:spPr>
          <a:xfrm>
            <a:off x="7269480" y="4023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" y="49377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Talk2Mind — Multimodal AI-Based Mental Well-Being Assessment System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503920" y="4937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Demo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in Streamlit — dashboard/app.py — the “Neural Diagnostics Console”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3583" y="1188720"/>
            <a:ext cx="2696817" cy="1463040"/>
          </a:xfrm>
          <a:prstGeom prst="roundRect">
            <a:avLst>
              <a:gd name="adj" fmla="val 3750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0077A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412435" y="1170432"/>
            <a:ext cx="2696817" cy="1463040"/>
          </a:xfrm>
          <a:prstGeom prst="roundRect">
            <a:avLst>
              <a:gd name="adj" fmla="val 3750"/>
            </a:avLst>
          </a:prstGeom>
          <a:blipFill>
            <a:blip r:embed="rId4"/>
            <a:stretch>
              <a:fillRect/>
            </a:stretch>
          </a:blipFill>
          <a:ln w="12700">
            <a:solidFill>
              <a:srgbClr val="0077A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303661" y="1172817"/>
            <a:ext cx="2492867" cy="1494845"/>
          </a:xfrm>
          <a:prstGeom prst="roundRect">
            <a:avLst>
              <a:gd name="adj" fmla="val 3750"/>
            </a:avLst>
          </a:prstGeom>
          <a:blipFill>
            <a:blip r:embed="rId5"/>
            <a:stretch>
              <a:fillRect/>
            </a:stretch>
          </a:blipFill>
          <a:ln w="12700">
            <a:solidFill>
              <a:srgbClr val="0077A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76656" y="3114261"/>
            <a:ext cx="3326296" cy="1619416"/>
          </a:xfrm>
          <a:prstGeom prst="roundRect">
            <a:avLst>
              <a:gd name="adj" fmla="val 3750"/>
            </a:avLst>
          </a:prstGeom>
          <a:blipFill>
            <a:blip r:embed="rId6"/>
            <a:stretch>
              <a:fillRect/>
            </a:stretch>
          </a:blipFill>
          <a:ln w="12700">
            <a:solidFill>
              <a:srgbClr val="0077A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903304" y="3114261"/>
            <a:ext cx="3551583" cy="1582840"/>
          </a:xfrm>
          <a:prstGeom prst="roundRect">
            <a:avLst>
              <a:gd name="adj" fmla="val 3750"/>
            </a:avLst>
          </a:prstGeom>
          <a:blipFill>
            <a:blip r:embed="rId7"/>
            <a:stretch>
              <a:fillRect/>
            </a:stretch>
          </a:blipFill>
          <a:ln w="12700">
            <a:solidFill>
              <a:srgbClr val="0077A8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74320" y="49377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Talk2Mind — Multimodal AI-Based Mental Well-Being Assessment System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4937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16152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143000"/>
            <a:ext cx="7973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Late-fusion weighting outperformed single-modality evaluation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45336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472184"/>
            <a:ext cx="7973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Questionnaire stabilizes variant facial/acoustic predictions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1801368"/>
            <a:ext cx="7973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SVM with MFCCs matched heavy RNNs, with faster inference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49908" y="2432304"/>
            <a:ext cx="329184" cy="256032"/>
          </a:xfrm>
          <a:prstGeom prst="roundRect">
            <a:avLst>
              <a:gd name="adj" fmla="val 10714"/>
            </a:avLst>
          </a:prstGeom>
          <a:ln w="19050">
            <a:solidFill>
              <a:srgbClr val="0077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95628" y="2478024"/>
            <a:ext cx="64008" cy="64008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163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CNN Confusion Matrix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 Screenshot Here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11980" y="2432304"/>
            <a:ext cx="329184" cy="256032"/>
          </a:xfrm>
          <a:prstGeom prst="roundRect">
            <a:avLst>
              <a:gd name="adj" fmla="val 10714"/>
            </a:avLst>
          </a:prstGeom>
          <a:ln w="19050">
            <a:solidFill>
              <a:srgbClr val="0077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57700" y="2478024"/>
            <a:ext cx="64008" cy="64008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21" name="Text 19"/>
          <p:cNvSpPr/>
          <p:nvPr/>
        </p:nvSpPr>
        <p:spPr>
          <a:xfrm>
            <a:off x="3319272" y="28163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SVM Confusion Matrix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9272" y="35661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 Screenshot Here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64908" y="2432304"/>
            <a:ext cx="329184" cy="256032"/>
          </a:xfrm>
          <a:prstGeom prst="roundRect">
            <a:avLst>
              <a:gd name="adj" fmla="val 10714"/>
            </a:avLst>
          </a:prstGeom>
          <a:ln w="19050">
            <a:solidFill>
              <a:srgbClr val="0077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0628" y="2478024"/>
            <a:ext cx="64008" cy="64008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28163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Comparison Chart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72200" y="35661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 Screenshot Here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9377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Talk2Mind — Multimodal AI-Based Mental Well-Being Assessment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937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0760" y="2286000"/>
            <a:ext cx="2697480" cy="2084832"/>
          </a:xfrm>
          <a:prstGeom prst="roundRect">
            <a:avLst>
              <a:gd name="adj" fmla="val 3529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0077A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227832" y="2286000"/>
            <a:ext cx="2697480" cy="2084832"/>
          </a:xfrm>
          <a:prstGeom prst="roundRect">
            <a:avLst>
              <a:gd name="adj" fmla="val 3529"/>
            </a:avLst>
          </a:prstGeom>
          <a:blipFill>
            <a:blip r:embed="rId4"/>
            <a:stretch>
              <a:fillRect/>
            </a:stretch>
          </a:blipFill>
          <a:ln w="12700">
            <a:solidFill>
              <a:srgbClr val="0077A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65760" y="2286000"/>
            <a:ext cx="2697480" cy="2084832"/>
          </a:xfrm>
          <a:prstGeom prst="roundRect">
            <a:avLst>
              <a:gd name="adj" fmla="val 3529"/>
            </a:avLst>
          </a:prstGeom>
          <a:blipFill>
            <a:blip r:embed="rId5"/>
            <a:stretch>
              <a:fillRect/>
            </a:stretch>
          </a:blipFill>
          <a:ln w="12700">
            <a:solidFill>
              <a:srgbClr val="0077A8"/>
            </a:solidFill>
            <a:prstDash val="dash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Delivered Modules &amp; Future Scope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Status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52144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E8F4FD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521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Facial Emotion Recognition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69080" y="1234440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4069080" y="1234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E8F4F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600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Speech Emotion Recognition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69080" y="1682496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4069080" y="16824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048256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E8F4FD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0482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Mental Health Questionnaire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69080" y="2130552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4069080" y="2130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96312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E8F4FD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963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Fusion Engine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69080" y="2578608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4069080" y="2578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944368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E8F4FD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9443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Progress Tracking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69080" y="3026664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4069080" y="30266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392424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E8F4FD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39242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 Dashboard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69080" y="3474720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0" name="Text 28"/>
          <p:cNvSpPr/>
          <p:nvPr/>
        </p:nvSpPr>
        <p:spPr>
          <a:xfrm>
            <a:off x="4069080" y="3474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822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1225296"/>
            <a:ext cx="118872" cy="11887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3" name="Text 31"/>
          <p:cNvSpPr/>
          <p:nvPr/>
        </p:nvSpPr>
        <p:spPr>
          <a:xfrm>
            <a:off x="5010912" y="1152144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Speech model relies strictly on MFCCs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1591056"/>
            <a:ext cx="118872" cy="11887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5" name="Text 33"/>
          <p:cNvSpPr/>
          <p:nvPr/>
        </p:nvSpPr>
        <p:spPr>
          <a:xfrm>
            <a:off x="5010912" y="1517904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Recommendations are rule-based, not LLM-driven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2057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54880" y="2450592"/>
            <a:ext cx="118872" cy="118872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38" name="Text 36"/>
          <p:cNvSpPr/>
          <p:nvPr/>
        </p:nvSpPr>
        <p:spPr>
          <a:xfrm>
            <a:off x="5010912" y="2377440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app integration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2816352"/>
            <a:ext cx="118872" cy="118872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40" name="Text 38"/>
          <p:cNvSpPr/>
          <p:nvPr/>
        </p:nvSpPr>
        <p:spPr>
          <a:xfrm>
            <a:off x="5010912" y="2743200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validation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54880" y="3182112"/>
            <a:ext cx="118872" cy="118872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42" name="Text 40"/>
          <p:cNvSpPr/>
          <p:nvPr/>
        </p:nvSpPr>
        <p:spPr>
          <a:xfrm>
            <a:off x="5010912" y="3108960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Transformer-based speech models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54880" y="3547872"/>
            <a:ext cx="118872" cy="118872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44" name="Text 42"/>
          <p:cNvSpPr/>
          <p:nvPr/>
        </p:nvSpPr>
        <p:spPr>
          <a:xfrm>
            <a:off x="5010912" y="3474720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webcam monitoring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54880" y="3913632"/>
            <a:ext cx="118872" cy="118872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46" name="Text 44"/>
          <p:cNvSpPr/>
          <p:nvPr/>
        </p:nvSpPr>
        <p:spPr>
          <a:xfrm>
            <a:off x="5010912" y="3840480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0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Multilingual speech support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74320" y="49377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Talk2Mind — Multimodal AI-Based Mental Well-Being Assessment System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503920" y="4937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77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2743200" cy="2743200"/>
          </a:xfrm>
          <a:prstGeom prst="ellipse">
            <a:avLst/>
          </a:prstGeom>
          <a:solidFill>
            <a:srgbClr val="0077A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657600"/>
            <a:ext cx="2377440" cy="2377440"/>
          </a:xfrm>
          <a:prstGeom prst="ellipse">
            <a:avLst/>
          </a:prstGeom>
          <a:solidFill>
            <a:srgbClr val="7B2FBE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188720"/>
            <a:ext cx="7607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End-to-end multimodal ML solution for mental well-being assessment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19072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45920"/>
            <a:ext cx="7607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Combines facial, speech, and self-report signals via Weighted Late-Fusion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76272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103120"/>
            <a:ext cx="7607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Minimizes blind spots of single-modality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33472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560320"/>
            <a:ext cx="7607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Delivers immediate, data-driven insights through an interactive dashboard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90672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017520"/>
            <a:ext cx="7607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Provides a clear path to track mental health progress over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3657600" cy="777240"/>
          </a:xfrm>
          <a:prstGeom prst="roundRect">
            <a:avLst>
              <a:gd name="adj" fmla="val 8235"/>
            </a:avLst>
          </a:prstGeom>
          <a:solidFill>
            <a:srgbClr val="0A1622"/>
          </a:solidFill>
          <a:ln w="9525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74904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dashboard  &amp;&amp;  streamlit run app.py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B4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" y="49377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Talk2Mind — Multimodal AI-Based Mental Well-Being Assessment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4937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664</Words>
  <Application>Microsoft Office PowerPoint</Application>
  <PresentationFormat>On-screen Show (16:9)</PresentationFormat>
  <Paragraphs>211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Talk2Mind: Multimodal AI-Based Mental Well-Being Assessment System</dc:title>
  <dc:subject>PptxGenJS Presentation</dc:subject>
  <dc:creator>Shivam Subedar Patel</dc:creator>
  <cp:lastModifiedBy>Admin</cp:lastModifiedBy>
  <cp:revision>5</cp:revision>
  <dcterms:created xsi:type="dcterms:W3CDTF">2026-06-30T11:26:45Z</dcterms:created>
  <dcterms:modified xsi:type="dcterms:W3CDTF">2026-06-30T12:07:03Z</dcterms:modified>
</cp:coreProperties>
</file>